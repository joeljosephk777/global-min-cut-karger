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27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i="0" b="1">
                <a:solidFill>
                  <a:srgbClr val="1A1A1A"/>
                </a:solidFill>
                <a:latin typeface="Calibri"/>
              </a:rPr>
              <a:t>Global minimum cut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600" i="0" b="0">
                <a:solidFill>
                  <a:srgbClr val="1A1A1A"/>
                </a:solidFill>
                <a:latin typeface="Calibri"/>
              </a:rPr>
              <a:t>Karger's randomized </a:t>
            </a:r>
            <a:r>
              <a:rPr sz="2600" i="0" b="1">
                <a:solidFill>
                  <a:srgbClr val="8C2E2E"/>
                </a:solidFill>
                <a:latin typeface="Calibri"/>
              </a:rPr>
              <a:t>contraction algorithm</a:t>
            </a:r>
            <a:r>
              <a:rPr sz="2600" i="0" b="0">
                <a:solidFill>
                  <a:srgbClr val="1A1A1A"/>
                </a:solidFill>
                <a:latin typeface="Calibri"/>
              </a:rPr>
              <a:t>  —  the analysis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i="0" b="0">
                <a:solidFill>
                  <a:srgbClr val="555F6B"/>
                </a:solidFill>
                <a:latin typeface="Calibri"/>
              </a:rPr>
              <a:t>Kleinberg &amp; Tardos, </a:t>
            </a:r>
            <a:r>
              <a:rPr sz="1800" i="1" b="0">
                <a:solidFill>
                  <a:srgbClr val="555F6B"/>
                </a:solidFill>
                <a:latin typeface="Calibri"/>
              </a:rPr>
              <a:t>§ 13.2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4754880" cy="3175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27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i="0" b="1">
                <a:solidFill>
                  <a:srgbClr val="1A1A1A"/>
                </a:solidFill>
                <a:latin typeface="Calibri"/>
              </a:rPr>
              <a:t>First step:  hitting the cut with prob ≤ 2/n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50976"/>
            <a:ext cx="10927080" cy="279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270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i="0" b="1">
                <a:solidFill>
                  <a:srgbClr val="2E6DB4"/>
                </a:solidFill>
                <a:latin typeface="Calibri"/>
              </a:rPr>
              <a:t>Claim.  </a:t>
            </a:r>
            <a:r>
              <a:rPr sz="1900" i="0" b="0">
                <a:solidFill>
                  <a:srgbClr val="1A1A1A"/>
                </a:solidFill>
                <a:latin typeface="Calibri"/>
              </a:rPr>
              <a:t>the contraction algorithm returns a min cut with prob </a:t>
            </a:r>
            <a:r>
              <a:rPr sz="1900" i="1" b="0">
                <a:solidFill>
                  <a:srgbClr val="1A1A1A"/>
                </a:solidFill>
                <a:latin typeface="Cambria"/>
              </a:rPr>
              <a:t>≥ 2/n²</a:t>
            </a:r>
            <a:r>
              <a:rPr sz="1900" i="0" b="0">
                <a:solidFill>
                  <a:srgbClr val="1A1A1A"/>
                </a:solidFill>
                <a:latin typeface="Calibri"/>
              </a:rPr>
              <a:t>.   Fix a global min-cut </a:t>
            </a:r>
            <a:r>
              <a:rPr sz="1900" i="1" b="0">
                <a:solidFill>
                  <a:srgbClr val="1A1A1A"/>
                </a:solidFill>
                <a:latin typeface="Cambria"/>
              </a:rPr>
              <a:t>(A*, B*)</a:t>
            </a:r>
            <a:r>
              <a:rPr sz="1900" i="0" b="0">
                <a:solidFill>
                  <a:srgbClr val="1A1A1A"/>
                </a:solidFill>
                <a:latin typeface="Calibri"/>
              </a:rPr>
              <a:t>;  let </a:t>
            </a:r>
            <a:r>
              <a:rPr sz="1900" i="1" b="0">
                <a:solidFill>
                  <a:srgbClr val="1A1A1A"/>
                </a:solidFill>
                <a:latin typeface="Cambria"/>
              </a:rPr>
              <a:t>F*</a:t>
            </a:r>
            <a:r>
              <a:rPr sz="1900" i="0" b="0">
                <a:solidFill>
                  <a:srgbClr val="1A1A1A"/>
                </a:solidFill>
                <a:latin typeface="Calibri"/>
              </a:rPr>
              <a:t> be its crossing edges, </a:t>
            </a:r>
            <a:r>
              <a:rPr sz="1900" i="1" b="0">
                <a:solidFill>
                  <a:srgbClr val="1A1A1A"/>
                </a:solidFill>
                <a:latin typeface="Cambria"/>
              </a:rPr>
              <a:t>k = |F*|</a:t>
            </a:r>
            <a:r>
              <a:rPr sz="1900" i="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i="0" b="0">
                <a:solidFill>
                  <a:srgbClr val="1A1A1A"/>
                </a:solidFill>
                <a:latin typeface="Calibri"/>
              </a:rPr>
              <a:t>The run </a:t>
            </a:r>
            <a:r>
              <a:rPr sz="1900" i="0" b="1">
                <a:solidFill>
                  <a:srgbClr val="1A1A1A"/>
                </a:solidFill>
                <a:latin typeface="Calibri"/>
              </a:rPr>
              <a:t>succeeds</a:t>
            </a:r>
            <a:r>
              <a:rPr sz="1900" i="0" b="0">
                <a:solidFill>
                  <a:srgbClr val="1A1A1A"/>
                </a:solidFill>
                <a:latin typeface="Calibri"/>
              </a:rPr>
              <a:t> ⇔ it never contracts an edge of </a:t>
            </a:r>
            <a:r>
              <a:rPr sz="1900" i="1" b="0">
                <a:solidFill>
                  <a:srgbClr val="1A1A1A"/>
                </a:solidFill>
                <a:latin typeface="Cambria"/>
              </a:rPr>
              <a:t>F*</a:t>
            </a:r>
            <a:r>
              <a:rPr sz="1900" i="0" b="0">
                <a:solidFill>
                  <a:srgbClr val="1A1A1A"/>
                </a:solidFill>
                <a:latin typeface="Calibri"/>
              </a:rPr>
              <a:t>.  So bound the chance step 1 ruins it: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i="0" b="1">
                <a:solidFill>
                  <a:srgbClr val="2E6DB4"/>
                </a:solidFill>
                <a:latin typeface="Calibri"/>
              </a:rPr>
              <a:t>①  </a:t>
            </a:r>
            <a:r>
              <a:rPr sz="2100" i="1" b="0">
                <a:solidFill>
                  <a:srgbClr val="1A1A1A"/>
                </a:solidFill>
                <a:latin typeface="Cambria"/>
              </a:rPr>
              <a:t>P(pick a cut edge) = k / |E|.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i="1" b="0">
                <a:solidFill>
                  <a:srgbClr val="8C2E2E"/>
                </a:solidFill>
                <a:latin typeface="Calibri"/>
              </a:rPr>
              <a:t>      a raffle: </a:t>
            </a:r>
            <a:r>
              <a:rPr sz="1400" i="1" b="0">
                <a:solidFill>
                  <a:srgbClr val="8C2E2E"/>
                </a:solidFill>
                <a:latin typeface="Cambria"/>
              </a:rPr>
              <a:t>|E|</a:t>
            </a:r>
            <a:r>
              <a:rPr sz="1400" i="1" b="0">
                <a:solidFill>
                  <a:srgbClr val="8C2E2E"/>
                </a:solidFill>
                <a:latin typeface="Calibri"/>
              </a:rPr>
              <a:t> tickets, </a:t>
            </a:r>
            <a:r>
              <a:rPr sz="1400" i="1" b="0">
                <a:solidFill>
                  <a:srgbClr val="8C2E2E"/>
                </a:solidFill>
                <a:latin typeface="Cambria"/>
              </a:rPr>
              <a:t>k</a:t>
            </a:r>
            <a:r>
              <a:rPr sz="1400" i="1" b="0">
                <a:solidFill>
                  <a:srgbClr val="8C2E2E"/>
                </a:solidFill>
                <a:latin typeface="Calibri"/>
              </a:rPr>
              <a:t> of them “bad” (the cut edges).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i="0" b="1">
                <a:solidFill>
                  <a:srgbClr val="2E6DB4"/>
                </a:solidFill>
                <a:latin typeface="Calibri"/>
              </a:rPr>
              <a:t>②  </a:t>
            </a:r>
            <a:r>
              <a:rPr sz="2100" i="1" b="0">
                <a:solidFill>
                  <a:srgbClr val="1A1A1A"/>
                </a:solidFill>
                <a:latin typeface="Cambria"/>
              </a:rPr>
              <a:t>every vertex has degree ≥ k</a:t>
            </a:r>
            <a:r>
              <a:rPr sz="2100" i="0" b="0">
                <a:solidFill>
                  <a:srgbClr val="1A1A1A"/>
                </a:solidFill>
                <a:latin typeface="Calibri"/>
              </a:rPr>
              <a:t>   ⟹   </a:t>
            </a:r>
            <a:r>
              <a:rPr sz="2100" i="1" b="0">
                <a:solidFill>
                  <a:srgbClr val="1A1A1A"/>
                </a:solidFill>
                <a:latin typeface="Cambria"/>
              </a:rPr>
              <a:t>2|E| = Σ deg(v) ≥ k·n   ⟹   |E| ≥ ½ k 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i="1" b="0">
                <a:solidFill>
                  <a:srgbClr val="8C2E2E"/>
                </a:solidFill>
                <a:latin typeface="Calibri"/>
              </a:rPr>
              <a:t>      else snipping a vertex’s few edges would beat the min cut; summing degrees counts each edge twice.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i="0" b="1">
                <a:solidFill>
                  <a:srgbClr val="2E6DB4"/>
                </a:solidFill>
                <a:latin typeface="Calibri"/>
              </a:rPr>
              <a:t>③  </a:t>
            </a:r>
            <a:r>
              <a:rPr sz="2100" i="0" b="0">
                <a:solidFill>
                  <a:srgbClr val="1A1A1A"/>
                </a:solidFill>
                <a:latin typeface="Calibri"/>
              </a:rPr>
              <a:t>combine ① and ②: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i="1" b="0">
                <a:solidFill>
                  <a:srgbClr val="8C2E2E"/>
                </a:solidFill>
                <a:latin typeface="Calibri"/>
              </a:rPr>
              <a:t>      bigger denominator ⇒ smaller fraction, so “≥” flips to “≤”; then the k cancels.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4617720"/>
            <a:ext cx="9235440" cy="822960"/>
          </a:xfrm>
          <a:prstGeom prst="rect">
            <a:avLst/>
          </a:prstGeom>
          <a:solidFill>
            <a:srgbClr val="E2ECF7"/>
          </a:solidFill>
          <a:ln w="1270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i="0" b="0">
                <a:solidFill>
                  <a:srgbClr val="1A1A1A"/>
                </a:solidFill>
                <a:latin typeface="Cambria"/>
              </a:rPr>
              <a:t>k / |E|   ≤   k / (½ k n)   =   2 /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577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i="1" b="0">
                <a:solidFill>
                  <a:srgbClr val="8C2E2E"/>
                </a:solidFill>
                <a:latin typeface="Calibri"/>
              </a:rPr>
              <a:t>so you survive step 1 with prob ≥ 1 − 2/n.   (n = 8:  2/14 ≈ 14%  ≤  2/8 = 25%.)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27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i="0" b="1">
                <a:solidFill>
                  <a:srgbClr val="1A1A1A"/>
                </a:solidFill>
                <a:latin typeface="Calibri"/>
              </a:rPr>
              <a:t>Every step, then multiply:  from 2/n to 2/n²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50976"/>
            <a:ext cx="10927080" cy="279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270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i="0" b="0">
                <a:solidFill>
                  <a:srgbClr val="1A1A1A"/>
                </a:solidFill>
                <a:latin typeface="Calibri"/>
              </a:rPr>
              <a:t>The same </a:t>
            </a:r>
            <a:r>
              <a:rPr sz="2200" i="1" b="0">
                <a:solidFill>
                  <a:srgbClr val="1A1A1A"/>
                </a:solidFill>
                <a:latin typeface="Cambria"/>
              </a:rPr>
              <a:t>≤ 2/n</a:t>
            </a:r>
            <a:r>
              <a:rPr sz="2200" i="0" b="0">
                <a:solidFill>
                  <a:srgbClr val="1A1A1A"/>
                </a:solidFill>
                <a:latin typeface="Calibri"/>
              </a:rPr>
              <a:t> argument holds at </a:t>
            </a:r>
            <a:r>
              <a:rPr sz="2200" i="0" b="1">
                <a:solidFill>
                  <a:srgbClr val="1A1A1A"/>
                </a:solidFill>
                <a:latin typeface="Calibri"/>
              </a:rPr>
              <a:t>every</a:t>
            </a:r>
            <a:r>
              <a:rPr sz="2200" i="0" b="0">
                <a:solidFill>
                  <a:srgbClr val="1A1A1A"/>
                </a:solidFill>
                <a:latin typeface="Calibri"/>
              </a:rPr>
              <a:t> step — just with the nodes that remain.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i="0" b="0">
                <a:solidFill>
                  <a:srgbClr val="1A1A1A"/>
                </a:solidFill>
                <a:latin typeface="Calibri"/>
              </a:rPr>
              <a:t>•  After </a:t>
            </a:r>
            <a:r>
              <a:rPr sz="1900" i="1" b="0">
                <a:solidFill>
                  <a:srgbClr val="1A1A1A"/>
                </a:solidFill>
                <a:latin typeface="Cambria"/>
              </a:rPr>
              <a:t>j</a:t>
            </a:r>
            <a:r>
              <a:rPr sz="1900" i="0" b="0">
                <a:solidFill>
                  <a:srgbClr val="1A1A1A"/>
                </a:solidFill>
                <a:latin typeface="Calibri"/>
              </a:rPr>
              <a:t> contractions, </a:t>
            </a:r>
            <a:r>
              <a:rPr sz="1900" i="1" b="0">
                <a:solidFill>
                  <a:srgbClr val="1A1A1A"/>
                </a:solidFill>
                <a:latin typeface="Cambria"/>
              </a:rPr>
              <a:t>n′ = n − j</a:t>
            </a:r>
            <a:r>
              <a:rPr sz="1900" i="0" b="0">
                <a:solidFill>
                  <a:srgbClr val="1A1A1A"/>
                </a:solidFill>
                <a:latin typeface="Calibri"/>
              </a:rPr>
              <a:t> supernodes remain. If no </a:t>
            </a:r>
            <a:r>
              <a:rPr sz="1900" i="1" b="0">
                <a:solidFill>
                  <a:srgbClr val="1A1A1A"/>
                </a:solidFill>
                <a:latin typeface="Cambria"/>
              </a:rPr>
              <a:t>F*</a:t>
            </a:r>
            <a:r>
              <a:rPr sz="1900" i="0" b="0">
                <a:solidFill>
                  <a:srgbClr val="1A1A1A"/>
                </a:solidFill>
                <a:latin typeface="Calibri"/>
              </a:rPr>
              <a:t> edge was contracted yet, </a:t>
            </a:r>
            <a:r>
              <a:rPr sz="1900" i="1" b="0">
                <a:solidFill>
                  <a:srgbClr val="1A1A1A"/>
                </a:solidFill>
                <a:latin typeface="Cambria"/>
              </a:rPr>
              <a:t>F*</a:t>
            </a:r>
            <a:r>
              <a:rPr sz="1900" i="0" b="0">
                <a:solidFill>
                  <a:srgbClr val="1A1A1A"/>
                </a:solidFill>
                <a:latin typeface="Calibri"/>
              </a:rPr>
              <a:t> is still a min cut of </a:t>
            </a:r>
            <a:r>
              <a:rPr sz="1900" i="1" b="0">
                <a:solidFill>
                  <a:srgbClr val="1A1A1A"/>
                </a:solidFill>
                <a:latin typeface="Cambria"/>
              </a:rPr>
              <a:t>G′</a:t>
            </a:r>
            <a:r>
              <a:rPr sz="1900" i="1" b="0">
                <a:solidFill>
                  <a:srgbClr val="1A1A1A"/>
                </a:solidFill>
                <a:latin typeface="Cambria"/>
              </a:rPr>
              <a:t>, so  P(hit F*) ≤ 2 / n′.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i="0" b="0">
                <a:solidFill>
                  <a:srgbClr val="1A1A1A"/>
                </a:solidFill>
                <a:latin typeface="Calibri"/>
              </a:rPr>
              <a:t>•  Let  </a:t>
            </a:r>
            <a:r>
              <a:rPr sz="1900" i="1" b="0">
                <a:solidFill>
                  <a:srgbClr val="1A1A1A"/>
                </a:solidFill>
                <a:latin typeface="Cambria"/>
              </a:rPr>
              <a:t>Eⱼ</a:t>
            </a:r>
            <a:r>
              <a:rPr sz="1900" i="0" b="0">
                <a:solidFill>
                  <a:srgbClr val="1A1A1A"/>
                </a:solidFill>
                <a:latin typeface="Calibri"/>
              </a:rPr>
              <a:t>  = “no edge of </a:t>
            </a:r>
            <a:r>
              <a:rPr sz="1900" i="1" b="0">
                <a:solidFill>
                  <a:srgbClr val="1A1A1A"/>
                </a:solidFill>
                <a:latin typeface="Cambria"/>
              </a:rPr>
              <a:t>F*</a:t>
            </a:r>
            <a:r>
              <a:rPr sz="1900" i="0" b="0">
                <a:solidFill>
                  <a:srgbClr val="1A1A1A"/>
                </a:solidFill>
                <a:latin typeface="Calibri"/>
              </a:rPr>
              <a:t> is contracted in step </a:t>
            </a:r>
            <a:r>
              <a:rPr sz="1900" i="1" b="0">
                <a:solidFill>
                  <a:srgbClr val="1A1A1A"/>
                </a:solidFill>
                <a:latin typeface="Cambria"/>
              </a:rPr>
              <a:t>j</a:t>
            </a:r>
            <a:r>
              <a:rPr sz="1900" i="0" b="0">
                <a:solidFill>
                  <a:srgbClr val="1A1A1A"/>
                </a:solidFill>
                <a:latin typeface="Calibri"/>
              </a:rPr>
              <a:t>.”  Multiply step-by-step (chain rule):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2788920"/>
            <a:ext cx="9235440" cy="2331720"/>
          </a:xfrm>
          <a:prstGeom prst="rect">
            <a:avLst/>
          </a:prstGeom>
          <a:solidFill>
            <a:srgbClr val="E2ECF7"/>
          </a:solidFill>
          <a:ln w="1270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i="0" b="0">
                <a:solidFill>
                  <a:srgbClr val="1A1A1A"/>
                </a:solidFill>
                <a:latin typeface="Consolas"/>
              </a:rPr>
              <a:t>Pr[E₁ ∩ E₂ ∩ ··· ∩ Eₙ₋₂]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i="0" b="0">
                <a:solidFill>
                  <a:srgbClr val="1A1A1A"/>
                </a:solidFill>
                <a:latin typeface="Consolas"/>
              </a:rPr>
              <a:t>  =  Pr[E₁] · Pr[E₂|E₁] ··· Pr[Eₙ₋₂ | E₁ ∩ ··· ∩ Eₙ₋₃]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i="0" b="0">
                <a:solidFill>
                  <a:srgbClr val="1A1A1A"/>
                </a:solidFill>
                <a:latin typeface="Consolas"/>
              </a:rPr>
              <a:t>  ≥  (1 − 2/n)(1 − 2/(n−1)) ··· (1 − 2/4)(1 − 2/3)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i="0" b="0">
                <a:solidFill>
                  <a:srgbClr val="1A1A1A"/>
                </a:solidFill>
                <a:latin typeface="Consolas"/>
              </a:rPr>
              <a:t>  =  (n−2)/n · (n−3)/(n−1) ··· 2/4 · 1/3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i="0" b="0">
                <a:solidFill>
                  <a:srgbClr val="1A1A1A"/>
                </a:solidFill>
                <a:latin typeface="Consolas"/>
              </a:rPr>
              <a:t>  =  2 / (n(n−1))     ≥     2 / n²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349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i="1" b="0">
                <a:solidFill>
                  <a:srgbClr val="8C2E2E"/>
                </a:solidFill>
                <a:latin typeface="Calibri"/>
              </a:rPr>
              <a:t>each numerator cancels a denominator two terms later — only n and (n−1) are left standing ⇒ that’s where the n² comes from.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27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i="0" b="1">
                <a:solidFill>
                  <a:srgbClr val="2E6DB4"/>
                </a:solidFill>
                <a:latin typeface="Calibri"/>
              </a:rPr>
              <a:t>Corollary.  </a:t>
            </a:r>
            <a:r>
              <a:rPr sz="1800" i="0" b="0">
                <a:solidFill>
                  <a:srgbClr val="1A1A1A"/>
                </a:solidFill>
                <a:latin typeface="Calibri"/>
              </a:rPr>
              <a:t>a graph has at most </a:t>
            </a:r>
            <a:r>
              <a:rPr sz="1800" i="1" b="0">
                <a:solidFill>
                  <a:srgbClr val="1A1A1A"/>
                </a:solidFill>
                <a:latin typeface="Cambria"/>
              </a:rPr>
              <a:t>C(n,2)</a:t>
            </a:r>
            <a:r>
              <a:rPr sz="1800" i="0" b="0">
                <a:solidFill>
                  <a:srgbClr val="1A1A1A"/>
                </a:solidFill>
                <a:latin typeface="Calibri"/>
              </a:rPr>
              <a:t> distinct global min cuts.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27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i="0" b="1">
                <a:solidFill>
                  <a:srgbClr val="1A1A1A"/>
                </a:solidFill>
                <a:latin typeface="Calibri"/>
              </a:rPr>
              <a:t>Worked example:  the 4-cycle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50976"/>
            <a:ext cx="10927080" cy="279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i="1" b="0">
                <a:solidFill>
                  <a:srgbClr val="1A1A1A"/>
                </a:solidFill>
                <a:latin typeface="Cambria"/>
              </a:rPr>
              <a:t>n = 4, </a:t>
            </a:r>
            <a:r>
              <a:rPr sz="2000" i="1" b="0">
                <a:solidFill>
                  <a:srgbClr val="1A1A1A"/>
                </a:solidFill>
                <a:latin typeface="Cambria"/>
              </a:rPr>
              <a:t>  k = 2.</a:t>
            </a:r>
            <a:r>
              <a:rPr sz="2000" i="0" b="0">
                <a:solidFill>
                  <a:srgbClr val="1A1A1A"/>
                </a:solidFill>
                <a:latin typeface="Calibri"/>
              </a:rPr>
              <a:t>   Target cut  </a:t>
            </a:r>
            <a:r>
              <a:rPr sz="2000" i="1" b="0">
                <a:solidFill>
                  <a:srgbClr val="1A1A1A"/>
                </a:solidFill>
                <a:latin typeface="Cambria"/>
              </a:rPr>
              <a:t>{1,4} | {2,3}</a:t>
            </a:r>
            <a:r>
              <a:rPr sz="2000" i="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i="1" b="0">
                <a:solidFill>
                  <a:srgbClr val="8C2E2E"/>
                </a:solidFill>
                <a:latin typeface="Cambria"/>
              </a:rPr>
              <a:t>F* = {1-2, 3-4}</a:t>
            </a:r>
            <a:r>
              <a:rPr sz="1900" i="0" b="0">
                <a:solidFill>
                  <a:srgbClr val="555F6B"/>
                </a:solidFill>
                <a:latin typeface="Calibri"/>
              </a:rPr>
              <a:t>   (top + bottom)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i="1" b="0">
                <a:solidFill>
                  <a:srgbClr val="2E6DB4"/>
                </a:solidFill>
                <a:latin typeface="Cambria"/>
              </a:rPr>
              <a:t>safe = {4-1, 2-3}</a:t>
            </a:r>
            <a:r>
              <a:rPr sz="1900" i="0" b="0">
                <a:solidFill>
                  <a:srgbClr val="555F6B"/>
                </a:solidFill>
                <a:latin typeface="Calibri"/>
              </a:rPr>
              <a:t>   (left + right)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i="0" b="1">
                <a:solidFill>
                  <a:srgbClr val="1A1A1A"/>
                </a:solidFill>
                <a:latin typeface="Calibri"/>
              </a:rPr>
              <a:t>Step 1</a:t>
            </a:r>
            <a:r>
              <a:rPr sz="2000" i="0" b="0">
                <a:solidFill>
                  <a:srgbClr val="1A1A1A"/>
                </a:solidFill>
                <a:latin typeface="Calibri"/>
              </a:rPr>
              <a:t>  (4 edges):   </a:t>
            </a:r>
            <a:r>
              <a:rPr sz="2000" i="1" b="0">
                <a:solidFill>
                  <a:srgbClr val="1A1A1A"/>
                </a:solidFill>
                <a:latin typeface="Cambria"/>
              </a:rPr>
              <a:t>P(safe) = 2/4 = ½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i="0" b="1">
                <a:solidFill>
                  <a:srgbClr val="1A1A1A"/>
                </a:solidFill>
                <a:latin typeface="Calibri"/>
              </a:rPr>
              <a:t>Step 2</a:t>
            </a:r>
            <a:r>
              <a:rPr sz="2000" i="0" b="0">
                <a:solidFill>
                  <a:srgbClr val="1A1A1A"/>
                </a:solidFill>
                <a:latin typeface="Calibri"/>
              </a:rPr>
              <a:t>  (triangle, 3 edges):   </a:t>
            </a:r>
            <a:r>
              <a:rPr sz="2000" i="1" b="0">
                <a:solidFill>
                  <a:srgbClr val="1A1A1A"/>
                </a:solidFill>
                <a:latin typeface="Cambria"/>
              </a:rPr>
              <a:t>P(safe) = 1/3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i="0" b="0">
                <a:solidFill>
                  <a:srgbClr val="1A1A1A"/>
                </a:solidFill>
                <a:latin typeface="Calibri"/>
              </a:rPr>
              <a:t>To find this exact cut we may only ever contract the two </a:t>
            </a:r>
            <a:r>
              <a:rPr sz="1700" i="0" b="1">
                <a:solidFill>
                  <a:srgbClr val="2E6DB4"/>
                </a:solidFill>
                <a:latin typeface="Calibri"/>
              </a:rPr>
              <a:t>safe</a:t>
            </a:r>
            <a:r>
              <a:rPr sz="1700" i="0" b="0">
                <a:solidFill>
                  <a:srgbClr val="1A1A1A"/>
                </a:solidFill>
                <a:latin typeface="Calibri"/>
              </a:rPr>
              <a:t> edges — gluing 1+4 and 2+3.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371600"/>
            <a:ext cx="40233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55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i="0" b="0">
                <a:solidFill>
                  <a:srgbClr val="1A1A1A"/>
                </a:solidFill>
                <a:latin typeface="Consolas"/>
              </a:rPr>
              <a:t>1 ——— 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i="0" b="0">
                <a:solidFill>
                  <a:srgbClr val="1A1A1A"/>
                </a:solidFill>
                <a:latin typeface="Consolas"/>
              </a:rPr>
              <a:t>|         |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i="0" b="0">
                <a:solidFill>
                  <a:srgbClr val="1A1A1A"/>
                </a:solidFill>
                <a:latin typeface="Consolas"/>
              </a:rPr>
              <a:t>4 ——— 3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4617720"/>
            <a:ext cx="9235440" cy="868680"/>
          </a:xfrm>
          <a:prstGeom prst="rect">
            <a:avLst/>
          </a:prstGeom>
          <a:solidFill>
            <a:srgbClr val="E2ECF7"/>
          </a:solidFill>
          <a:ln w="1270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i="0" b="0">
                <a:solidFill>
                  <a:srgbClr val="1A1A1A"/>
                </a:solidFill>
                <a:latin typeface="Cambria"/>
              </a:rPr>
              <a:t>½ · ⅓  =  1/6  =  2/(4·3)  =  2/(n(n−1))  ≥  2/16  =  2/n²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5577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i="1" b="0">
                <a:solidFill>
                  <a:srgbClr val="8C2E2E"/>
                </a:solidFill>
                <a:latin typeface="Calibri"/>
              </a:rPr>
              <a:t>exact here — the 2/(n(n−1)) bound is tight for the cycle. One run wins 1/6 of the time; repetition does the rest.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27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i="0" b="1">
                <a:solidFill>
                  <a:srgbClr val="1A1A1A"/>
                </a:solidFill>
                <a:latin typeface="Calibri"/>
              </a:rPr>
              <a:t>Amplification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50976"/>
            <a:ext cx="10927080" cy="279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270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i="0" b="1">
                <a:solidFill>
                  <a:srgbClr val="2E6DB4"/>
                </a:solidFill>
                <a:latin typeface="Calibri"/>
              </a:rPr>
              <a:t>Idea.  </a:t>
            </a:r>
            <a:r>
              <a:rPr sz="2100" i="0" b="0">
                <a:solidFill>
                  <a:srgbClr val="1A1A1A"/>
                </a:solidFill>
                <a:latin typeface="Calibri"/>
              </a:rPr>
              <a:t>one run wins with prob only </a:t>
            </a:r>
            <a:r>
              <a:rPr sz="2100" i="1" b="0">
                <a:solidFill>
                  <a:srgbClr val="1A1A1A"/>
                </a:solidFill>
                <a:latin typeface="Cambria"/>
              </a:rPr>
              <a:t>≥ 2/n²</a:t>
            </a:r>
            <a:r>
              <a:rPr sz="2100" i="0" b="0">
                <a:solidFill>
                  <a:srgbClr val="1A1A1A"/>
                </a:solidFill>
                <a:latin typeface="Calibri"/>
              </a:rPr>
              <a:t> — so run it many times (</a:t>
            </a:r>
            <a:r>
              <a:rPr sz="2100" i="1" b="0">
                <a:solidFill>
                  <a:srgbClr val="8C2E2E"/>
                </a:solidFill>
                <a:latin typeface="Calibri"/>
              </a:rPr>
              <a:t>independent random choices</a:t>
            </a:r>
            <a:r>
              <a:rPr sz="2100" i="0" b="0">
                <a:solidFill>
                  <a:srgbClr val="1A1A1A"/>
                </a:solidFill>
                <a:latin typeface="Calibri"/>
              </a:rPr>
              <a:t>) and keep the smallest cut.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i="0" b="1">
                <a:solidFill>
                  <a:srgbClr val="2E6DB4"/>
                </a:solidFill>
                <a:latin typeface="Calibri"/>
              </a:rPr>
              <a:t>Claim.  </a:t>
            </a:r>
            <a:r>
              <a:rPr sz="2100" i="0" b="0">
                <a:solidFill>
                  <a:srgbClr val="1A1A1A"/>
                </a:solidFill>
                <a:latin typeface="Calibri"/>
              </a:rPr>
              <a:t>repeat </a:t>
            </a:r>
            <a:r>
              <a:rPr sz="2100" i="1" b="0">
                <a:solidFill>
                  <a:srgbClr val="1A1A1A"/>
                </a:solidFill>
                <a:latin typeface="Cambria"/>
              </a:rPr>
              <a:t>n² ln n</a:t>
            </a:r>
            <a:r>
              <a:rPr sz="2100" i="0" b="0">
                <a:solidFill>
                  <a:srgbClr val="1A1A1A"/>
                </a:solidFill>
                <a:latin typeface="Calibri"/>
              </a:rPr>
              <a:t> times  ⟹  P(fail to find the global min cut) </a:t>
            </a:r>
            <a:r>
              <a:rPr sz="2100" i="1" b="0">
                <a:solidFill>
                  <a:srgbClr val="1A1A1A"/>
                </a:solidFill>
                <a:latin typeface="Cambria"/>
              </a:rPr>
              <a:t>≤ 1/n²</a:t>
            </a:r>
            <a:r>
              <a:rPr sz="2100" i="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i="0" b="1">
                <a:solidFill>
                  <a:srgbClr val="2E6DB4"/>
                </a:solidFill>
                <a:latin typeface="Calibri"/>
              </a:rPr>
              <a:t>Pf.  </a:t>
            </a:r>
            <a:r>
              <a:rPr sz="2100" i="0" b="0">
                <a:solidFill>
                  <a:srgbClr val="1A1A1A"/>
                </a:solidFill>
                <a:latin typeface="Calibri"/>
              </a:rPr>
              <a:t>by independence, P(all runs fail) is at most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3200400"/>
            <a:ext cx="9235440" cy="1737360"/>
          </a:xfrm>
          <a:prstGeom prst="rect">
            <a:avLst/>
          </a:prstGeom>
          <a:solidFill>
            <a:srgbClr val="E2ECF7"/>
          </a:solidFill>
          <a:ln w="1270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100" i="0" b="0">
                <a:solidFill>
                  <a:srgbClr val="1A1A1A"/>
                </a:solidFill>
                <a:latin typeface="Consolas"/>
              </a:rPr>
              <a:t>(1 − 2/n²)^(n² ln n)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100" i="0" b="0">
                <a:solidFill>
                  <a:srgbClr val="1A1A1A"/>
                </a:solidFill>
                <a:latin typeface="Consolas"/>
              </a:rPr>
              <a:t>  =  [ (1 − 2/n²)^(½ n²) ]^(2 ln n)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100" i="0" b="0">
                <a:solidFill>
                  <a:srgbClr val="1A1A1A"/>
                </a:solidFill>
                <a:latin typeface="Consolas"/>
              </a:rPr>
              <a:t>  ≤  (e⁻¹)^(2 ln n)   =   1 / n²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074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i="1" b="0">
                <a:solidFill>
                  <a:srgbClr val="8C2E2E"/>
                </a:solidFill>
                <a:latin typeface="Calibri"/>
              </a:rPr>
              <a:t>uses  (1 − 1/x)^x ≤ 1/e.    For n = 8:  n² ln n ≈ 133 runs.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27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i="0" b="1">
                <a:solidFill>
                  <a:srgbClr val="1A1A1A"/>
                </a:solidFill>
                <a:latin typeface="Calibri"/>
              </a:rPr>
              <a:t>Global min cut: 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50976"/>
            <a:ext cx="10927080" cy="279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270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i="0" b="1">
                <a:solidFill>
                  <a:srgbClr val="2E6DB4"/>
                </a:solidFill>
                <a:latin typeface="Calibri"/>
              </a:rPr>
              <a:t>Remark.  </a:t>
            </a:r>
            <a:r>
              <a:rPr sz="2100" i="0" b="0">
                <a:solidFill>
                  <a:srgbClr val="1A1A1A"/>
                </a:solidFill>
                <a:latin typeface="Calibri"/>
              </a:rPr>
              <a:t>running time is slow: </a:t>
            </a:r>
            <a:r>
              <a:rPr sz="2100" i="1" b="0">
                <a:solidFill>
                  <a:srgbClr val="1A1A1A"/>
                </a:solidFill>
                <a:latin typeface="Cambria"/>
              </a:rPr>
              <a:t>Θ(n² log n)</a:t>
            </a:r>
            <a:r>
              <a:rPr sz="2100" i="0" b="0">
                <a:solidFill>
                  <a:srgbClr val="1A1A1A"/>
                </a:solidFill>
                <a:latin typeface="Calibri"/>
              </a:rPr>
              <a:t> iterations × </a:t>
            </a:r>
            <a:r>
              <a:rPr sz="2100" i="1" b="0">
                <a:solidFill>
                  <a:srgbClr val="1A1A1A"/>
                </a:solidFill>
                <a:latin typeface="Cambria"/>
              </a:rPr>
              <a:t>Ω(m)</a:t>
            </a:r>
            <a:r>
              <a:rPr sz="2100" i="0" b="0">
                <a:solidFill>
                  <a:srgbClr val="1A1A1A"/>
                </a:solidFill>
                <a:latin typeface="Calibri"/>
              </a:rPr>
              <a:t> each.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1783080"/>
            <a:ext cx="9235440" cy="731520"/>
          </a:xfrm>
          <a:prstGeom prst="rect">
            <a:avLst/>
          </a:prstGeom>
          <a:solidFill>
            <a:srgbClr val="E2ECF7"/>
          </a:solidFill>
          <a:ln w="1270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i="0" b="0">
                <a:solidFill>
                  <a:srgbClr val="1A1A1A"/>
                </a:solidFill>
                <a:latin typeface="Cambria"/>
              </a:rPr>
              <a:t>total  =  O(m · n² log n)  =  O(n⁴ log n)   for a dense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927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i="0" b="1">
                <a:solidFill>
                  <a:srgbClr val="2E6DB4"/>
                </a:solidFill>
                <a:latin typeface="Calibri"/>
              </a:rPr>
              <a:t>Improvement.  </a:t>
            </a:r>
            <a:r>
              <a:rPr sz="2100" i="0" b="0">
                <a:solidFill>
                  <a:srgbClr val="555F6B"/>
                </a:solidFill>
                <a:latin typeface="Calibri"/>
              </a:rPr>
              <a:t>[Karger–Stein 1996]   </a:t>
            </a:r>
            <a:r>
              <a:rPr sz="2100" i="1" b="0">
                <a:solidFill>
                  <a:srgbClr val="1A1A1A"/>
                </a:solidFill>
                <a:latin typeface="Cambria"/>
              </a:rPr>
              <a:t>O(n² log³ n)</a:t>
            </a:r>
            <a:r>
              <a:rPr sz="2100" i="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i="0" b="0">
                <a:solidFill>
                  <a:srgbClr val="1A1A1A"/>
                </a:solidFill>
                <a:latin typeface="Calibri"/>
              </a:rPr>
              <a:t>•  early contractions are safe — the risk of cutting </a:t>
            </a:r>
            <a:r>
              <a:rPr sz="1800" i="1" b="0">
                <a:solidFill>
                  <a:srgbClr val="1A1A1A"/>
                </a:solidFill>
                <a:latin typeface="Cambria"/>
              </a:rPr>
              <a:t>F*</a:t>
            </a:r>
            <a:r>
              <a:rPr sz="1800" i="0" b="0">
                <a:solidFill>
                  <a:srgbClr val="1A1A1A"/>
                </a:solidFill>
                <a:latin typeface="Calibri"/>
              </a:rPr>
              <a:t> only reaches ≈ 50% once about </a:t>
            </a:r>
            <a:r>
              <a:rPr sz="1800" i="1" b="0">
                <a:solidFill>
                  <a:srgbClr val="1A1A1A"/>
                </a:solidFill>
                <a:latin typeface="Cambria"/>
              </a:rPr>
              <a:t>n/√2</a:t>
            </a:r>
            <a:r>
              <a:rPr sz="1800" i="0" b="0">
                <a:solidFill>
                  <a:srgbClr val="1A1A1A"/>
                </a:solidFill>
                <a:latin typeface="Calibri"/>
              </a:rPr>
              <a:t> nodes remain;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i="0" b="0">
                <a:solidFill>
                  <a:srgbClr val="1A1A1A"/>
                </a:solidFill>
                <a:latin typeface="Calibri"/>
              </a:rPr>
              <a:t>•  contract to </a:t>
            </a:r>
            <a:r>
              <a:rPr sz="1800" i="1" b="0">
                <a:solidFill>
                  <a:srgbClr val="1A1A1A"/>
                </a:solidFill>
                <a:latin typeface="Cambria"/>
              </a:rPr>
              <a:t>n/√2</a:t>
            </a:r>
            <a:r>
              <a:rPr sz="1800" i="0" b="0">
                <a:solidFill>
                  <a:srgbClr val="1A1A1A"/>
                </a:solidFill>
                <a:latin typeface="Calibri"/>
              </a:rPr>
              <a:t> nodes, then </a:t>
            </a:r>
            <a:r>
              <a:rPr sz="1800" i="0" b="1">
                <a:solidFill>
                  <a:srgbClr val="8C2E2E"/>
                </a:solidFill>
                <a:latin typeface="Calibri"/>
              </a:rPr>
              <a:t>recurse twice</a:t>
            </a:r>
            <a:r>
              <a:rPr sz="1800" i="0" b="0">
                <a:solidFill>
                  <a:srgbClr val="1A1A1A"/>
                </a:solidFill>
                <a:latin typeface="Calibri"/>
              </a:rPr>
              <a:t> and return the better cut.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100" i="0" b="1">
                <a:solidFill>
                  <a:srgbClr val="2E6DB4"/>
                </a:solidFill>
                <a:latin typeface="Calibri"/>
              </a:rPr>
              <a:t>Extensions.  </a:t>
            </a:r>
            <a:r>
              <a:rPr sz="2100" i="0" b="0">
                <a:solidFill>
                  <a:srgbClr val="1A1A1A"/>
                </a:solidFill>
                <a:latin typeface="Calibri"/>
              </a:rPr>
              <a:t>naturally handles positive edge weights.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i="0" b="1">
                <a:solidFill>
                  <a:srgbClr val="2E6DB4"/>
                </a:solidFill>
                <a:latin typeface="Calibri"/>
              </a:rPr>
              <a:t>Best known.  </a:t>
            </a:r>
            <a:r>
              <a:rPr sz="2100" i="0" b="0">
                <a:solidFill>
                  <a:srgbClr val="555F6B"/>
                </a:solidFill>
                <a:latin typeface="Calibri"/>
              </a:rPr>
              <a:t>[Karger 2000]   </a:t>
            </a:r>
            <a:r>
              <a:rPr sz="2100" i="1" b="0">
                <a:solidFill>
                  <a:srgbClr val="1A1A1A"/>
                </a:solidFill>
                <a:latin typeface="Cambria"/>
              </a:rPr>
              <a:t>O(m log³ n)</a:t>
            </a:r>
            <a:r>
              <a:rPr sz="2100" i="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i="1" b="0">
                <a:solidFill>
                  <a:srgbClr val="8C2E2E"/>
                </a:solidFill>
                <a:latin typeface="Calibri"/>
              </a:rPr>
              <a:t>    faster than the best known max-flow or deterministic global-min-cut algorithm.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